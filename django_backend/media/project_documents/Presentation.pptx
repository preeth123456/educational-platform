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6" r:id="rId6"/>
    <p:sldId id="261" r:id="rId7"/>
    <p:sldId id="262" r:id="rId8"/>
    <p:sldId id="263" r:id="rId9"/>
    <p:sldId id="275" r:id="rId10"/>
    <p:sldId id="258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6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D1D"/>
    <a:srgbClr val="262B33"/>
    <a:srgbClr val="393939"/>
    <a:srgbClr val="282828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932ED0-F62B-4664-87C8-609AEFCA49BE}" v="798" dt="2025-08-17T17:11:05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>
        <p:scale>
          <a:sx n="75" d="100"/>
          <a:sy n="75" d="100"/>
        </p:scale>
        <p:origin x="1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wal c Malagi" userId="c4b794c5d49c320c" providerId="LiveId" clId="{7B932ED0-F62B-4664-87C8-609AEFCA49BE}"/>
    <pc:docChg chg="addSld modSld">
      <pc:chgData name="Prajwal c Malagi" userId="c4b794c5d49c320c" providerId="LiveId" clId="{7B932ED0-F62B-4664-87C8-609AEFCA49BE}" dt="2025-08-17T17:11:05.711" v="3" actId="14100"/>
      <pc:docMkLst>
        <pc:docMk/>
      </pc:docMkLst>
      <pc:sldChg chg="addSp modSp new">
        <pc:chgData name="Prajwal c Malagi" userId="c4b794c5d49c320c" providerId="LiveId" clId="{7B932ED0-F62B-4664-87C8-609AEFCA49BE}" dt="2025-08-17T17:11:05.711" v="3" actId="14100"/>
        <pc:sldMkLst>
          <pc:docMk/>
          <pc:sldMk cId="837652303" sldId="276"/>
        </pc:sldMkLst>
        <pc:picChg chg="add mod">
          <ac:chgData name="Prajwal c Malagi" userId="c4b794c5d49c320c" providerId="LiveId" clId="{7B932ED0-F62B-4664-87C8-609AEFCA49BE}" dt="2025-08-17T17:11:05.711" v="3" actId="14100"/>
          <ac:picMkLst>
            <pc:docMk/>
            <pc:sldMk cId="837652303" sldId="276"/>
            <ac:picMk id="12290" creationId="{AD593758-C20A-13D8-4C79-9F11E8FFB7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6BD4-C162-805F-A4F5-B6E974E09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9945C-46B6-B56C-EDF0-72FD8DE04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DEE4A-324D-F5A3-24F6-4CD70B50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6EB2B-ABF5-C86F-A040-6B981C54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8F462-E3B9-6E07-4A9A-70B8E9EC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4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053F-110E-7B07-A83E-E9FBFF48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AA574-6B34-9B3B-AACC-C7503C400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B514E-AC6D-CA35-9B2F-06DCEDD2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3346C-28DF-854B-1FAF-3761C675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FEFD2-36BC-801E-97ED-6854792F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5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66FD-B87B-D74B-ED7F-628EE314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8485F-8C2A-DFEF-C09B-CE3D38DD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6DE6-144A-AD37-2839-39A7EA8F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3E6DA-E245-30D5-3CE0-137BD532B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EC2F9-5B8B-92B2-10EA-7D2B4D11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52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040C-88AF-E4BA-08A9-F4C846FF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FBF01-7F0E-1554-92C8-7ED3D838B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FD604-1C5C-C96F-5CC8-53151E42B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95875-51C8-1E83-A0BC-DB3612EA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47CCA-0CED-8737-98F6-7BA659E9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16F48-83CF-4585-D39B-9FEA8B4F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41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50EE-0697-3F61-7327-F37CB192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EE408-81FD-524D-F0A6-BE039E626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D100F-857B-EEB9-3EB7-40BC4961F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3077A-8595-F549-7F56-8D5BC4891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98553-D1D1-8543-454A-4FE9BE679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2781E-745D-8A01-32CA-1FB6923B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B138E-976D-95A1-E92D-EEC966A0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EF906-E40A-53BF-29DE-D3EA7A4D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8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E97D-8B17-9ABB-BE46-409A44ED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50023-9697-91C6-1B99-0DA5EED9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97FBB-D682-FCDA-10F1-88E7043D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9AAB8-4A20-DE5B-5418-4E9F1754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17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CB31-5E7A-B8FF-5FFF-56AA99B1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7DE4C-2B53-683C-7C3B-63B1501E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0E30-5EB5-D5A0-6AF4-E48DD90F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91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10AE-E5B9-1C10-ECDD-2EBB9B97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E1CE4-D7CD-8D08-E6CA-6861A02E1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5F107-E300-0145-4940-57BC0CA13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15FB1-B595-2CD9-484B-0EDE011E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19774-FF4E-8E18-E3E6-A6306B4A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1596C-599E-0133-EE6C-4850CF2E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66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4551-49D2-151D-76F4-8C72CADD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E48CB2-8941-E709-1EAE-2DC4D2D67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4EF42-9D1B-E7F2-9056-226D4D49F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C2028-F65E-EEBE-1D79-03B96869E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37029-CA3B-6918-A490-A9270BD7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CA3D4-6F77-E272-F999-02D1AC2E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92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82B4-0190-2101-9D5D-40C0ADDB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C77FF-DE5A-0EEA-7C69-F41AC0DA7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1AE5E-B6CB-1B25-FC1C-3E801C2B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694CD-708F-F575-9520-469689DC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4B243-489C-1180-DD63-D20294D0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09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A2677-D9DF-73AE-8C8E-FDB525CB8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E9293-9398-12B7-3F9F-3AB210C16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2CC8D-4792-D1A0-45BD-84BB73E2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02AD4-DD23-968C-45C4-05A875EE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21D3-6D42-50B0-4D2C-76BCF863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53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2BA86-840E-071E-0391-12E11C74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5F4BB-F2D1-DDD4-7EC4-2148B3582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5868A-B5C1-CADE-EA00-19B02FB72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44D1E-3B8A-4EA3-AB83-3853822C4EA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BC83-7F85-25EC-75A6-0E1251948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F40DD-6212-BE07-96AB-36ACECC74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E7F80-A744-4A91-81AF-C7890DEDD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8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448F7B-DC41-DB35-78FC-C8EE6B7A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55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E044-8041-C86B-3364-E02A0D51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3A4AC-7FEA-C24E-5334-85CFC79C9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6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A523-1031-61E2-D947-990CDB46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C54FF-E7AA-5B4C-AA9E-1C94C5EFD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4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639F-274E-3AB1-EB82-21206D56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BD195-C0F0-E267-2726-789867FB2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223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607199-A067-6267-FFBA-3A3B37AF8F8F}"/>
              </a:ext>
            </a:extLst>
          </p:cNvPr>
          <p:cNvSpPr txBox="1"/>
          <p:nvPr/>
        </p:nvSpPr>
        <p:spPr>
          <a:xfrm>
            <a:off x="5859118" y="581295"/>
            <a:ext cx="61771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Google Sans"/>
              </a:rPr>
              <a:t>7000 BCE (China):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 Residue in clay pots suggests the production of an alcoholic beverage from rice, millet, grapes, and honey</a:t>
            </a: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5400-5000 BC (Iran):</a:t>
            </a:r>
            <a:r>
              <a:rPr lang="en-US" dirty="0">
                <a:solidFill>
                  <a:schemeClr val="bg1"/>
                </a:solidFill>
              </a:rPr>
              <a:t> Evidence of wine production found in Hajji Firuz Tepe, Iran</a:t>
            </a:r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Indus Valley Civilization (3300-1300 BCE):</a:t>
            </a:r>
            <a:r>
              <a:rPr lang="en-US" dirty="0">
                <a:solidFill>
                  <a:schemeClr val="bg1"/>
                </a:solidFill>
              </a:rPr>
              <a:t> Evidence of beer and wine production from grains and fruits</a:t>
            </a:r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Ancient Mesopotamia, Assyria, and Anatolia:</a:t>
            </a:r>
            <a:r>
              <a:rPr lang="en-US" dirty="0">
                <a:solidFill>
                  <a:schemeClr val="bg1"/>
                </a:solidFill>
              </a:rPr>
              <a:t> Wine and beer were produced and treated as trade and luxury goods</a:t>
            </a:r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  <a:p>
            <a:endParaRPr lang="en-US" dirty="0">
              <a:solidFill>
                <a:schemeClr val="bg1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86579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B21AEC-E3E3-F75F-FFDF-66AECEB50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225"/>
            <a:ext cx="12013322" cy="4999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111998-CEA3-0973-AD55-EEBBB2E6E594}"/>
              </a:ext>
            </a:extLst>
          </p:cNvPr>
          <p:cNvSpPr txBox="1"/>
          <p:nvPr/>
        </p:nvSpPr>
        <p:spPr>
          <a:xfrm>
            <a:off x="7891670" y="288233"/>
            <a:ext cx="5105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hiller" panose="04020404031007020602" pitchFamily="82" charset="0"/>
              </a:rPr>
              <a:t>PREPARATION</a:t>
            </a:r>
            <a:endParaRPr lang="en-IN" sz="5400" dirty="0">
              <a:solidFill>
                <a:schemeClr val="bg1"/>
              </a:solidFill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3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FE62-40C7-A9A9-D063-9BADAE6B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DB5D2-646B-EC80-F3F3-9385FA13F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26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1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2CD85-8E01-584B-1BCD-2E342A31E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r chart showing alcohol consumption by beverage type. ">
            <a:extLst>
              <a:ext uri="{FF2B5EF4-FFF2-40B4-BE49-F238E27FC236}">
                <a16:creationId xmlns:a16="http://schemas.microsoft.com/office/drawing/2014/main" id="{4D8BA41D-202C-872E-5E77-8ABB0E300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41"/>
          <a:stretch>
            <a:fillRect/>
          </a:stretch>
        </p:blipFill>
        <p:spPr bwMode="auto">
          <a:xfrm>
            <a:off x="3629025" y="0"/>
            <a:ext cx="4933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46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FEC95-E790-7198-575C-B82988D8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oronoi chart showing which countries drink the most beer">
            <a:extLst>
              <a:ext uri="{FF2B5EF4-FFF2-40B4-BE49-F238E27FC236}">
                <a16:creationId xmlns:a16="http://schemas.microsoft.com/office/drawing/2014/main" id="{C4A5BEDA-DA8A-8A66-1C05-7A32C66A1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87"/>
          <a:stretch>
            <a:fillRect/>
          </a:stretch>
        </p:blipFill>
        <p:spPr bwMode="auto">
          <a:xfrm>
            <a:off x="3432175" y="0"/>
            <a:ext cx="5326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06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C0998-BC37-939A-9156-416236E2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355DC4-64CC-D08F-B8AE-BEDFA48B6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6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43250">
              <a:srgbClr val="000000"/>
            </a:gs>
            <a:gs pos="36500">
              <a:srgbClr val="000000"/>
            </a:gs>
            <a:gs pos="49000">
              <a:schemeClr val="tx1"/>
            </a:gs>
            <a:gs pos="100000">
              <a:srgbClr val="222222"/>
            </a:gs>
            <a:gs pos="81000">
              <a:srgbClr val="282828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38E1E-902D-0223-601D-77CB0B2C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80972A-549E-93C9-B446-55E8AB8DC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9756"/>
            <a:ext cx="4849792" cy="46993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3ABB3-792A-409A-7FAF-3F2EEF162049}"/>
              </a:ext>
            </a:extLst>
          </p:cNvPr>
          <p:cNvSpPr txBox="1"/>
          <p:nvPr/>
        </p:nvSpPr>
        <p:spPr>
          <a:xfrm>
            <a:off x="5750560" y="58685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Matura MT Script Capitals" panose="03020802060602070202" pitchFamily="66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Matura MT Script Capitals" panose="03020802060602070202" pitchFamily="66" charset="0"/>
              </a:rPr>
              <a:t>D'Amalfi</a:t>
            </a:r>
            <a:r>
              <a:rPr lang="en-IN" sz="3600" dirty="0">
                <a:solidFill>
                  <a:schemeClr val="bg1"/>
                </a:solidFill>
                <a:latin typeface="Matura MT Script Capitals" panose="03020802060602070202" pitchFamily="66" charset="0"/>
              </a:rPr>
              <a:t> Limoncello Supreme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B383D-D44F-1EB0-D845-FDC4AD274E60}"/>
              </a:ext>
            </a:extLst>
          </p:cNvPr>
          <p:cNvSpPr txBox="1"/>
          <p:nvPr/>
        </p:nvSpPr>
        <p:spPr>
          <a:xfrm>
            <a:off x="7030720" y="28971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CE210-A13E-4488-E89E-F8AC08333AA7}"/>
              </a:ext>
            </a:extLst>
          </p:cNvPr>
          <p:cNvSpPr txBox="1"/>
          <p:nvPr/>
        </p:nvSpPr>
        <p:spPr>
          <a:xfrm>
            <a:off x="7342210" y="2897108"/>
            <a:ext cx="656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4</a:t>
            </a:r>
            <a:endParaRPr lang="en-IN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05C35-9224-E067-FE3F-411780761F70}"/>
              </a:ext>
            </a:extLst>
          </p:cNvPr>
          <p:cNvSpPr txBox="1"/>
          <p:nvPr/>
        </p:nvSpPr>
        <p:spPr>
          <a:xfrm>
            <a:off x="7581900" y="2897108"/>
            <a:ext cx="695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4</a:t>
            </a:r>
            <a:endParaRPr lang="en-IN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FC84B-38F9-686F-674B-322FD735FA8B}"/>
              </a:ext>
            </a:extLst>
          </p:cNvPr>
          <p:cNvSpPr txBox="1"/>
          <p:nvPr/>
        </p:nvSpPr>
        <p:spPr>
          <a:xfrm>
            <a:off x="7881620" y="2897107"/>
            <a:ext cx="7269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million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0295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8" grpId="0"/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2AEA7-6AA6-206F-40AA-9EB0CF72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71ED1-B47F-45C4-536C-6D23DD704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369364" cy="6857999"/>
          </a:xfrm>
          <a:prstGeom prst="rect">
            <a:avLst/>
          </a:prstGeom>
        </p:spPr>
      </p:pic>
      <p:pic>
        <p:nvPicPr>
          <p:cNvPr id="5122" name="Picture 2" descr="Planting Red Wine Grapes For National Red Wine Day | Gardening Know How">
            <a:extLst>
              <a:ext uri="{FF2B5EF4-FFF2-40B4-BE49-F238E27FC236}">
                <a16:creationId xmlns:a16="http://schemas.microsoft.com/office/drawing/2014/main" id="{AE6133CF-B7D1-EAA9-4F5E-8C3AA5C67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364" y="0"/>
            <a:ext cx="88226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49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DF839-47DB-B25A-D756-1ADA84BD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694B0-50E3-7218-8E0E-7FB30B561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2530" cy="6872006"/>
          </a:xfrm>
          <a:prstGeom prst="rect">
            <a:avLst/>
          </a:prstGeom>
        </p:spPr>
      </p:pic>
      <p:pic>
        <p:nvPicPr>
          <p:cNvPr id="6146" name="Picture 2" descr="Can you hydrate with beer? - Glacier Design Systems">
            <a:extLst>
              <a:ext uri="{FF2B5EF4-FFF2-40B4-BE49-F238E27FC236}">
                <a16:creationId xmlns:a16="http://schemas.microsoft.com/office/drawing/2014/main" id="{C7AEFFD1-D148-7564-4A85-78A65EB6A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530" y="0"/>
            <a:ext cx="933947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09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41DC1-3A40-DAED-B9D5-80F6BC7B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B1A72-82E6-7601-0BD3-B451DE0B2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71800" cy="6858000"/>
          </a:xfrm>
          <a:prstGeom prst="rect">
            <a:avLst/>
          </a:prstGeom>
        </p:spPr>
      </p:pic>
      <p:pic>
        <p:nvPicPr>
          <p:cNvPr id="7172" name="Picture 4" descr="Jack Daniels 12-Year Tennessee Whiskey Review">
            <a:extLst>
              <a:ext uri="{FF2B5EF4-FFF2-40B4-BE49-F238E27FC236}">
                <a16:creationId xmlns:a16="http://schemas.microsoft.com/office/drawing/2014/main" id="{89DF03FD-3D1E-9602-F082-2F2E1AEFA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8451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1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B4DB5-D295-6C99-8555-7E8C6310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71DDD-79E9-B8CD-AFE0-321C8EBE1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64843" cy="6858000"/>
          </a:xfrm>
          <a:prstGeom prst="rect">
            <a:avLst/>
          </a:prstGeom>
        </p:spPr>
      </p:pic>
      <p:pic>
        <p:nvPicPr>
          <p:cNvPr id="8198" name="Picture 6" descr="Shop Bombay Sapphire Gin | Bombay Sapphire – Bombay Sapphire Distillery">
            <a:extLst>
              <a:ext uri="{FF2B5EF4-FFF2-40B4-BE49-F238E27FC236}">
                <a16:creationId xmlns:a16="http://schemas.microsoft.com/office/drawing/2014/main" id="{F8DF5DBD-6123-86E3-3D16-66570EE62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632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99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5A2FB-21AA-5D26-DDFB-FEA07E23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7F07B-8BD9-A8DB-2AEB-9C4219707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99183" cy="6858000"/>
          </a:xfrm>
          <a:prstGeom prst="rect">
            <a:avLst/>
          </a:prstGeom>
        </p:spPr>
      </p:pic>
      <p:pic>
        <p:nvPicPr>
          <p:cNvPr id="9220" name="Picture 4" descr="Vodka Beyond A Drink: The Spirit's Various Other Uses">
            <a:extLst>
              <a:ext uri="{FF2B5EF4-FFF2-40B4-BE49-F238E27FC236}">
                <a16:creationId xmlns:a16="http://schemas.microsoft.com/office/drawing/2014/main" id="{2D8B76C1-76AF-4097-C49E-AC633023A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5"/>
          <a:stretch>
            <a:fillRect/>
          </a:stretch>
        </p:blipFill>
        <p:spPr bwMode="auto">
          <a:xfrm>
            <a:off x="5005180" y="193040"/>
            <a:ext cx="5143500" cy="658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45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1CF09-1C55-4DC7-BD6B-41EC1E46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D7669-2C71-ADF8-8293-D5F36E108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436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C97BCA-A557-AAFF-BCB0-616939D257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5000"/>
                    </a14:imgEffect>
                    <a14:imgEffect>
                      <a14:saturation sat="267000"/>
                    </a14:imgEffect>
                    <a14:imgEffect>
                      <a14:brightnessContrast bright="14000" contras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680" y="0"/>
            <a:ext cx="8148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3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9C784-440B-5D53-88E4-9EAC160F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43754-33BD-97E3-D097-3B696816C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324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98E2A-8ED3-012A-3CC8-929A4A4B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480" y="0"/>
            <a:ext cx="8786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7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574CE-8D25-4338-DC2C-504EE7B1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4410C-5D56-D74E-EE77-DD3F88766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54721" cy="6858000"/>
          </a:xfrm>
          <a:prstGeom prst="rect">
            <a:avLst/>
          </a:prstGeom>
        </p:spPr>
      </p:pic>
      <p:pic>
        <p:nvPicPr>
          <p:cNvPr id="10242" name="Picture 2" descr="Liquor – High Quality » Q Cover , JHU16JHU, alcoholic HD wallpaper | Pxfuel">
            <a:extLst>
              <a:ext uri="{FF2B5EF4-FFF2-40B4-BE49-F238E27FC236}">
                <a16:creationId xmlns:a16="http://schemas.microsoft.com/office/drawing/2014/main" id="{1773900F-9C6D-4269-B2C0-388B8157D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035" y="390525"/>
            <a:ext cx="8096250" cy="607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03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85CA1-C502-9642-4B22-867C96A5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AB3636-2EE5-F68F-162E-FB90675C6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3252" cy="6858000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1C0EE009-AEAF-3ACE-0F4D-26D3EEFFCF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1"/>
          <a:stretch>
            <a:fillRect/>
          </a:stretch>
        </p:blipFill>
        <p:spPr bwMode="auto">
          <a:xfrm>
            <a:off x="3037840" y="0"/>
            <a:ext cx="91541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10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64AC-F141-30A6-615C-441C6514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918F3-DD5D-51AE-CFB5-6F14D20B9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66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Odeya (2019) - IMDb">
            <a:extLst>
              <a:ext uri="{FF2B5EF4-FFF2-40B4-BE49-F238E27FC236}">
                <a16:creationId xmlns:a16="http://schemas.microsoft.com/office/drawing/2014/main" id="{AD593758-C20A-13D8-4C79-9F11E8FFB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596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65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87</Words>
  <Application>Microsoft Office PowerPoint</Application>
  <PresentationFormat>Widescreen</PresentationFormat>
  <Paragraphs>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Chiller</vt:lpstr>
      <vt:lpstr>Google Sans</vt:lpstr>
      <vt:lpstr>Matura MT Script Capitals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Prajwal c Malagi</dc:creator>
  <cp:lastModifiedBy>Prajwal c Malagi</cp:lastModifiedBy>
  <cp:revision>2</cp:revision>
  <dcterms:created xsi:type="dcterms:W3CDTF">2025-08-14T14:04:24Z</dcterms:created>
  <dcterms:modified xsi:type="dcterms:W3CDTF">2025-08-17T17:11:13Z</dcterms:modified>
</cp:coreProperties>
</file>